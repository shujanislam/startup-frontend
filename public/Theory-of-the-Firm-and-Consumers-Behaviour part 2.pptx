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87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1206500"/>
            <a:ext cx="1227774" cy="535861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5" name="Text 2"/>
          <p:cNvSpPr/>
          <p:nvPr/>
        </p:nvSpPr>
        <p:spPr>
          <a:xfrm>
            <a:off x="6416278" y="1316116"/>
            <a:ext cx="1091686" cy="35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UNIT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183308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Theory of the Firm &amp; Consumer's Behaviour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405014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6A688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Part 2: Budget Constraints, Optimal Allocation, &amp; Calculus.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509897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Part 1 established that consumers want to reach the highest indifference curve possible. Part 2 introduces the real-world limitation that prevents this -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limited income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- and explores the mathematical tools used to find the perfect balance between desires and affordability.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6263D-026C-5EF8-2D19-F306AEFB6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5793"/>
            <a:ext cx="775942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 Budget Constraint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642" y="1795939"/>
            <a:ext cx="62948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budget constraint represents all the combinations of goods a consumer can afford given their current income and the market prices of those goods.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6642" y="3041094"/>
            <a:ext cx="6294834" cy="2579965"/>
          </a:xfrm>
          <a:prstGeom prst="roundRect">
            <a:avLst>
              <a:gd name="adj" fmla="val 3520"/>
            </a:avLst>
          </a:prstGeom>
          <a:solidFill>
            <a:srgbClr val="B6D6FC"/>
          </a:solidFill>
          <a:ln/>
        </p:spPr>
      </p:sp>
      <p:sp>
        <p:nvSpPr>
          <p:cNvPr id="6" name="Text 3"/>
          <p:cNvSpPr/>
          <p:nvPr/>
        </p:nvSpPr>
        <p:spPr>
          <a:xfrm>
            <a:off x="901700" y="3301008"/>
            <a:ext cx="5933678" cy="214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Unlike the curved indifference lines representing subjective happiness, the budget line is a strict,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straight boundary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The slope is determined strictly by the ratio of market prices (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−PX / PY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), dictating the exact rate at which the market forces you to trade one good for another.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6642" y="5852874"/>
            <a:ext cx="629483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formula for the budget constraint 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6642" y="6451402"/>
            <a:ext cx="6294834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6451402"/>
            <a:ext cx="6294834" cy="3683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642" y="7080528"/>
            <a:ext cx="629483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Where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= Price,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X/Y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= Quantities, and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= Income.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430810" y="1610558"/>
            <a:ext cx="6606302" cy="5993130"/>
          </a:xfrm>
          <a:prstGeom prst="roundRect">
            <a:avLst>
              <a:gd name="adj" fmla="val 2597"/>
            </a:avLst>
          </a:prstGeom>
          <a:solidFill>
            <a:srgbClr val="DDF8F2"/>
          </a:solidFill>
          <a:ln/>
        </p:spPr>
      </p:sp>
      <p:sp>
        <p:nvSpPr>
          <p:cNvPr id="12" name="Text 8"/>
          <p:cNvSpPr/>
          <p:nvPr/>
        </p:nvSpPr>
        <p:spPr>
          <a:xfrm>
            <a:off x="7646908" y="1816537"/>
            <a:ext cx="3763685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Real-World Example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💡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46908" y="2367915"/>
            <a:ext cx="617410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Suppose your entertainment budget (</a:t>
            </a:r>
            <a:r>
              <a:rPr lang="en-US" sz="2000" i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) is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$100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646908" y="2891076"/>
            <a:ext cx="6174105" cy="224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Movie tickets (X) cost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$20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each → you can afford up to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5 movies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Streaming rentals (Y) cost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$5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each → you can afford up to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20 rentals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Any combination along that straight line is affordable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Any combination costing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$101 or more is out of reach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646908" y="5319236"/>
            <a:ext cx="617410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budget line is the hard ceiling of consumer choice.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547DD4-DC12-2380-0CFE-4FB57750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1" y="154067"/>
            <a:ext cx="5280898" cy="792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568285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Shifts and Pivots in the Budget Line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9376" y="2132290"/>
            <a:ext cx="77052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budget line changes dynamically based on external economic factors. Two distinct types of movement can occur: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19376" y="2968823"/>
            <a:ext cx="7705249" cy="4692491"/>
          </a:xfrm>
          <a:prstGeom prst="roundRect">
            <a:avLst>
              <a:gd name="adj" fmla="val 184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96" y="2976443"/>
            <a:ext cx="7690009" cy="2338626"/>
          </a:xfrm>
          <a:prstGeom prst="roundRect">
            <a:avLst>
              <a:gd name="adj" fmla="val 3692"/>
            </a:avLst>
          </a:prstGeom>
          <a:solidFill>
            <a:srgbClr val="D6F5EE"/>
          </a:solidFill>
          <a:ln/>
        </p:spPr>
      </p:sp>
      <p:sp>
        <p:nvSpPr>
          <p:cNvPr id="8" name="Text 5"/>
          <p:cNvSpPr/>
          <p:nvPr/>
        </p:nvSpPr>
        <p:spPr>
          <a:xfrm>
            <a:off x="913209" y="3162657"/>
            <a:ext cx="511802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Income Changes → Parallel Shift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3209" y="3595449"/>
            <a:ext cx="7317581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If income increases, the entire budget line shifts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outward in a parallel fashion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You can afford more of everything, but the relative prices - the slope - haven't changed. A decrease in income shifts the line inward, reducing all purchasing power equally.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6996" y="5315069"/>
            <a:ext cx="7690009" cy="2338626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726996" y="5315069"/>
            <a:ext cx="7690009" cy="22860"/>
          </a:xfrm>
          <a:prstGeom prst="roundRect">
            <a:avLst>
              <a:gd name="adj" fmla="val 377674"/>
            </a:avLst>
          </a:prstGeom>
          <a:solidFill>
            <a:srgbClr val="BCDBD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413" y="5197912"/>
            <a:ext cx="256937" cy="2569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3209" y="5780723"/>
            <a:ext cx="3512344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Price Changes → Pivot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913209" y="6213515"/>
            <a:ext cx="7317581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If the price of only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one good changes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the line </a:t>
            </a:r>
            <a:r>
              <a:rPr lang="en-US" sz="2000" i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pivots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If Good X becomes cheaper, the line pivots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outward on the X-axis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, expanding your purchasing power specifically for that item while leaving the other axis intercept unchanged.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1226939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Optimal Allocation — Consumer Equilibrium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543205" y="1485079"/>
            <a:ext cx="253650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 Core Concept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43205" y="1881796"/>
            <a:ext cx="6015395" cy="15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ultimate goal of the consumer is to reach the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highest possible Indifference Curve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without crossing their Budget Constraint line. The optimal choice is the exact point where the budget line is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tangent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to an indifference curve.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543205" y="3572470"/>
            <a:ext cx="6015395" cy="3831630"/>
          </a:xfrm>
          <a:prstGeom prst="roundRect">
            <a:avLst>
              <a:gd name="adj" fmla="val 524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4"/>
          <p:cNvSpPr/>
          <p:nvPr/>
        </p:nvSpPr>
        <p:spPr>
          <a:xfrm>
            <a:off x="7798396" y="4411834"/>
            <a:ext cx="5681663" cy="171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You want to be as happy as possible, but you are blocked by the boundary of your wallet. The most efficient, utility-maximizing point is the exact coordinate where your straight budget line just barely touches the highest reachable curve.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44AFB8-D0A3-3496-FA44-8A327943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C87CD1-F5D2-6019-ECDB-21611E1F39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05" t="7010" r="24006" b="2410"/>
          <a:stretch>
            <a:fillRect/>
          </a:stretch>
        </p:blipFill>
        <p:spPr>
          <a:xfrm>
            <a:off x="927696" y="1511299"/>
            <a:ext cx="6159500" cy="6251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9881"/>
            <a:ext cx="11099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 Math of Optimal Allocation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122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 the exact point of optimal allocation, the slope of the indifference curve equals the slope of the budget line. This is expressed as: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25153"/>
            <a:ext cx="13042821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25153"/>
            <a:ext cx="13042821" cy="678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317087"/>
            <a:ext cx="4805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What This Equation Means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898231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 equilibrium, your personal, subjective </a:t>
            </a: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willingness to trade goods (MRS)</a:t>
            </a: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is exactly equal to the </a:t>
            </a: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objective market exchange rate</a:t>
            </a: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(PX / PY). The two slopes : one from your preferences, one from the market - must be perfectly aligned.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36168" y="4090273"/>
            <a:ext cx="6571417" cy="3189446"/>
          </a:xfrm>
          <a:prstGeom prst="roundRect">
            <a:avLst>
              <a:gd name="adj" fmla="val 5121"/>
            </a:avLst>
          </a:prstGeom>
          <a:solidFill>
            <a:srgbClr val="DDF8F2"/>
          </a:solidFill>
          <a:ln/>
        </p:spPr>
      </p:sp>
      <p:sp>
        <p:nvSpPr>
          <p:cNvPr id="9" name="Text 6"/>
          <p:cNvSpPr/>
          <p:nvPr/>
        </p:nvSpPr>
        <p:spPr>
          <a:xfrm>
            <a:off x="7662982" y="4317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Why It Matters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62982" y="4898231"/>
            <a:ext cx="611778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If these two slopes did </a:t>
            </a:r>
            <a:r>
              <a:rPr lang="en-US" sz="2200" i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not</a:t>
            </a: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match, the consumer could improve their happiness by reallocating their spending toward the good they value higher than the market does. The equilibrium condition ensures </a:t>
            </a: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further improvement is possible</a:t>
            </a:r>
            <a:r>
              <a:rPr lang="en-US" sz="22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— the consumer is truly optimized.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5E7BC2-AC4E-03B0-EDFC-221448093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038"/>
            <a:ext cx="6562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Consumer Surplus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104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Consumer surplus is the economic measure of consumer benefit - the difference between the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maximum price a consumer is willing to pay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and the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actual market price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they end up paying.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591401"/>
            <a:ext cx="6407944" cy="3190042"/>
          </a:xfrm>
          <a:prstGeom prst="roundRect">
            <a:avLst>
              <a:gd name="adj" fmla="val 458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591401"/>
            <a:ext cx="121920" cy="319004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48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 Core Idea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4339114"/>
            <a:ext cx="58019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This represents the psychological "win" of participating in a market. If you value an item heavily, but the market provides it cheaply, you capture that difference as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surplus value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It proves that free trade can create wealth and satisfaction that isn't purely monetary.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3591401"/>
            <a:ext cx="6408063" cy="3190042"/>
          </a:xfrm>
          <a:prstGeom prst="roundRect">
            <a:avLst>
              <a:gd name="adj" fmla="val 458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591401"/>
            <a:ext cx="121920" cy="319004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848695"/>
            <a:ext cx="394775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Real-World Example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7282" y="4346734"/>
            <a:ext cx="58020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You are walking through the city in a sudden downpour and decide you would gladly pay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$25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for an umbrella to stay dry. You enter a convenience store and find umbrellas priced at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$10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You purchase one and receive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$15 in Consumer Surplus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- the gap between your willingness to pay and the market price.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69AA63-DD32-D8F1-CAE9-82517A8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97825"/>
            <a:ext cx="1042106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Visualizing Consumer Surplus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553194" y="1945005"/>
            <a:ext cx="324528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Reading the Graph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53194" y="2513648"/>
            <a:ext cx="83033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On a macroeconomic scale, consumer surplus is represented graphically as the </a:t>
            </a: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area below the Demand Curve and above the horizontal Market Price line</a:t>
            </a: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53194" y="3420070"/>
            <a:ext cx="830330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downward-sloping Demand Curve plots the varying maximum willingness to pay of all consumers in a market. By drawing a horizontal line at the actual market price, we create a triangle.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553194" y="4730234"/>
            <a:ext cx="8303300" cy="1647825"/>
          </a:xfrm>
          <a:prstGeom prst="roundRect">
            <a:avLst>
              <a:gd name="adj" fmla="val 5691"/>
            </a:avLst>
          </a:prstGeom>
          <a:solidFill>
            <a:srgbClr val="B6D6FC"/>
          </a:solidFill>
          <a:ln/>
        </p:spPr>
      </p:sp>
      <p:sp>
        <p:nvSpPr>
          <p:cNvPr id="9" name="Text 5"/>
          <p:cNvSpPr/>
          <p:nvPr/>
        </p:nvSpPr>
        <p:spPr>
          <a:xfrm>
            <a:off x="5651501" y="4911820"/>
            <a:ext cx="7981752" cy="128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area of this shaded triangle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calculates the total monetary benefit gained by all consumers who were willing to pay more than the going rate -  a powerful measure of market welfare.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553194" y="6625233"/>
            <a:ext cx="83033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As the market price falls from P2 to P1, the triangle grows larger, meaning consumers collectively capture more surplus value from the transaction.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43B21D-24A9-B315-2A26-B66E702C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C1B4FD-BD42-F990-E010-A41D37D78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87936"/>
            <a:ext cx="5428260" cy="62845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49712"/>
            <a:ext cx="11641812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Applications of Calculus in Economics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2690098"/>
            <a:ext cx="8456414" cy="37095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15122" y="5121681"/>
            <a:ext cx="1903171" cy="4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Discrete Algebra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715122" y="5644449"/>
            <a:ext cx="1903171" cy="34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Step-like graph; average slope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02847" y="3071800"/>
            <a:ext cx="1903171" cy="4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Continuous Calculus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02847" y="3594568"/>
            <a:ext cx="1903171" cy="34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Smooth curve; exact instantaneous rate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21798" y="157745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Why Calculus?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21798" y="2049423"/>
            <a:ext cx="4333875" cy="144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Basic algebra is useful for </a:t>
            </a: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discrete units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(e.g., exactly 1 car, 2 cars), but modern economics deals with </a:t>
            </a: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continuous variables and smooth curves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Calculus is required to find exact points of optimization on these curves.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21798" y="3687366"/>
            <a:ext cx="4333875" cy="2783562"/>
          </a:xfrm>
          <a:prstGeom prst="roundRect">
            <a:avLst>
              <a:gd name="adj" fmla="val 2941"/>
            </a:avLst>
          </a:prstGeom>
          <a:solidFill>
            <a:srgbClr val="C1F1E5"/>
          </a:solidFill>
          <a:ln/>
        </p:spPr>
      </p:sp>
      <p:sp>
        <p:nvSpPr>
          <p:cNvPr id="12" name="Text 8"/>
          <p:cNvSpPr/>
          <p:nvPr/>
        </p:nvSpPr>
        <p:spPr>
          <a:xfrm>
            <a:off x="9740900" y="3903464"/>
            <a:ext cx="4019867" cy="231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If a firm's profit curve is a smooth arc, algebra can only calculate the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average slope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between two widely spaced points. Calculus provides the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derivative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- which acts like a laser pointer, identifying the exact rate of change at one microscopic, specific point on the curve.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621798" y="6659285"/>
            <a:ext cx="4333875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This precision is what makes calculus indispensable for modern economic theory and optimization problems.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B0C362-24A6-381F-D524-D02E39F44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7865"/>
            <a:ext cx="90370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Calculus: The "Marginals"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8027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 economic terminology, the word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"Marginal"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is virtually synonymous with the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"First Derivative."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Calculus provides the exact formulas for these critical economic concepts.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61228"/>
            <a:ext cx="4196358" cy="4050387"/>
          </a:xfrm>
          <a:prstGeom prst="roundRect">
            <a:avLst>
              <a:gd name="adj" fmla="val 23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39566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Marginal Product of Labor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224" y="4240411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exact output added by one infinitesimally small unit of labor is found by taking the partial derivative of the production function with respect to labor: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8224" y="6341983"/>
            <a:ext cx="3727490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6341983"/>
            <a:ext cx="3727490" cy="6351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16962" y="3161228"/>
            <a:ext cx="4196358" cy="4050387"/>
          </a:xfrm>
          <a:prstGeom prst="roundRect">
            <a:avLst>
              <a:gd name="adj" fmla="val 23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51396" y="3395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Marginal Utility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51396" y="3886081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additional satisfaction gained from consuming one more unit of a good is the derivative of the Utility function with respect to that good: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51396" y="5987653"/>
            <a:ext cx="3727490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96" y="5987653"/>
            <a:ext cx="3727490" cy="63519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40133" y="3161228"/>
            <a:ext cx="4196358" cy="4050387"/>
          </a:xfrm>
          <a:prstGeom prst="roundRect">
            <a:avLst>
              <a:gd name="adj" fmla="val 235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74568" y="3395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Why It Matters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874568" y="3886081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Without calculus, economists could only approximate these values. The derivative gives us </a:t>
            </a: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exact, instantaneous rates of change</a:t>
            </a:r>
            <a:r>
              <a:rPr lang="en-US" sz="24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- the foundation of all marginal analysis in microeconomics.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CCD906-2D09-5373-0265-44A56C3D7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61380"/>
            <a:ext cx="10308550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Calculus: Constrained Optimization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6905" y="1511498"/>
            <a:ext cx="3704153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The Lagrangian Multiplier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6905" y="1949053"/>
            <a:ext cx="61333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Advanced calculus is used to mathematically calculate the exact consumer equilibrium </a:t>
            </a: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without relying on visual graphs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The technique is called the </a:t>
            </a: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Lagrangian Multiplier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6905" y="2885242"/>
            <a:ext cx="6133386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This method elegantly combines the Consumer's Utility function and their Budget Constraint equation into one master formula: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6905" y="3609023"/>
            <a:ext cx="613338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3609023"/>
            <a:ext cx="6133386" cy="316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905" y="4114681"/>
            <a:ext cx="61333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By taking the partial derivatives of this master formula and setting them to zero, we can mathematically solve for the </a:t>
            </a:r>
            <a:r>
              <a:rPr lang="en-US" b="1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exact, optimal quantities</a:t>
            </a: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of goods a consumer should buy.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56905" y="5084564"/>
            <a:ext cx="6133386" cy="1223843"/>
          </a:xfrm>
          <a:prstGeom prst="roundRect">
            <a:avLst>
              <a:gd name="adj" fmla="val 6325"/>
            </a:avLst>
          </a:prstGeom>
          <a:solidFill>
            <a:srgbClr val="B6FCB8"/>
          </a:solidFill>
          <a:ln/>
        </p:spPr>
      </p:sp>
      <p:sp>
        <p:nvSpPr>
          <p:cNvPr id="11" name="Text 7"/>
          <p:cNvSpPr/>
          <p:nvPr/>
        </p:nvSpPr>
        <p:spPr>
          <a:xfrm>
            <a:off x="1555552" y="5280184"/>
            <a:ext cx="5350550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Lagrangian approach transforms a visual, graphical problem into a precise algebraic solution - the pinnacle of consumer optimization theory.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414736" y="1361837"/>
            <a:ext cx="6885464" cy="6306264"/>
          </a:xfrm>
          <a:prstGeom prst="roundRect">
            <a:avLst>
              <a:gd name="adj" fmla="val 2104"/>
            </a:avLst>
          </a:prstGeom>
          <a:solidFill>
            <a:srgbClr val="DDF8F2"/>
          </a:solidFill>
          <a:ln/>
        </p:spPr>
      </p:sp>
      <p:sp>
        <p:nvSpPr>
          <p:cNvPr id="13" name="Text 9"/>
          <p:cNvSpPr/>
          <p:nvPr/>
        </p:nvSpPr>
        <p:spPr>
          <a:xfrm>
            <a:off x="7598926" y="1511498"/>
            <a:ext cx="2738795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Step-by-Step Logic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98926" y="1967746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Unbounded Light" pitchFamily="34" charset="-122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598926" y="2257901"/>
            <a:ext cx="603051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6" name="Text 12"/>
          <p:cNvSpPr/>
          <p:nvPr/>
        </p:nvSpPr>
        <p:spPr>
          <a:xfrm>
            <a:off x="7598926" y="2395657"/>
            <a:ext cx="3745587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Define the Utility Function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98926" y="2833211"/>
            <a:ext cx="603051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Express the consumer's happiness as a mathematical function U(X, Y).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598926" y="3388162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Unbounded Light" pitchFamily="34" charset="-122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598926" y="3678317"/>
            <a:ext cx="603051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0" name="Text 16"/>
          <p:cNvSpPr/>
          <p:nvPr/>
        </p:nvSpPr>
        <p:spPr>
          <a:xfrm>
            <a:off x="7598926" y="3816072"/>
            <a:ext cx="412111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Write the Budget Constraint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598926" y="4253627"/>
            <a:ext cx="603051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Set up the income limitation: PXX + PYY = I.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598926" y="4808577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Unbounded Light" pitchFamily="34" charset="-122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598926" y="5098733"/>
            <a:ext cx="603051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4" name="Text 20"/>
          <p:cNvSpPr/>
          <p:nvPr/>
        </p:nvSpPr>
        <p:spPr>
          <a:xfrm>
            <a:off x="7598926" y="5236488"/>
            <a:ext cx="303430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Form the Lagrangian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598926" y="5674042"/>
            <a:ext cx="603051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Combine both into one master formula using the multiplier λ.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598926" y="6228993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Unbounded Light" pitchFamily="34" charset="-122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7598926" y="6519148"/>
            <a:ext cx="603051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8" name="Text 24"/>
          <p:cNvSpPr/>
          <p:nvPr/>
        </p:nvSpPr>
        <p:spPr>
          <a:xfrm>
            <a:off x="7598926" y="6656903"/>
            <a:ext cx="249566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Solve the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598926" y="7094458"/>
            <a:ext cx="603051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Take partial derivatives, set to zero, and solve for optimal X and 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711A97B-1A0D-E0CC-549E-A0692AA8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0" y="7762653"/>
            <a:ext cx="1714500" cy="466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FD7B8-E69A-930B-4D99-178A98181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00" r="27200" b="2800"/>
          <a:stretch>
            <a:fillRect/>
          </a:stretch>
        </p:blipFill>
        <p:spPr>
          <a:xfrm>
            <a:off x="101600" y="0"/>
            <a:ext cx="5080000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0E457A-096A-0CA0-45C4-9D38D32D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33" r="26533"/>
          <a:stretch>
            <a:fillRect/>
          </a:stretch>
        </p:blipFill>
        <p:spPr>
          <a:xfrm>
            <a:off x="5969000" y="0"/>
            <a:ext cx="59436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FAD3FE-CE61-8D81-EB8E-ACB9A07E98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00" r="27600"/>
          <a:stretch>
            <a:fillRect/>
          </a:stretch>
        </p:blipFill>
        <p:spPr>
          <a:xfrm>
            <a:off x="1295400" y="5029200"/>
            <a:ext cx="11569699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3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1313</Words>
  <Application>Microsoft Office PowerPoint</Application>
  <PresentationFormat>Custom</PresentationFormat>
  <Paragraphs>90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SARTAZ</dc:creator>
  <cp:lastModifiedBy>Sartaz Aziz</cp:lastModifiedBy>
  <cp:revision>5</cp:revision>
  <dcterms:created xsi:type="dcterms:W3CDTF">2026-04-20T18:29:58Z</dcterms:created>
  <dcterms:modified xsi:type="dcterms:W3CDTF">2026-04-21T03:52:08Z</dcterms:modified>
</cp:coreProperties>
</file>